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68" r:id="rId15"/>
    <p:sldId id="269" r:id="rId16"/>
    <p:sldId id="272" r:id="rId17"/>
    <p:sldId id="273" r:id="rId18"/>
    <p:sldId id="274" r:id="rId19"/>
    <p:sldId id="27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3945313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2535047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3050852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EAE46D-A536-415B-88D1-3187D1582B1C}" type="datetimeFigureOut">
              <a:rPr lang="en-IN" smtClean="0"/>
              <a:t>12-09-2026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449432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EAE46D-A536-415B-88D1-3187D1582B1C}" type="datetimeFigureOut">
              <a:rPr lang="en-IN" smtClean="0"/>
              <a:t>12-09-2026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3120584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EAE46D-A536-415B-88D1-3187D1582B1C}" type="datetimeFigureOut">
              <a:rPr lang="en-IN" smtClean="0"/>
              <a:t>12-09-2026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3850594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EAE46D-A536-415B-88D1-3187D1582B1C}" type="datetimeFigureOut">
              <a:rPr lang="en-IN" smtClean="0"/>
              <a:t>12-09-2026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937787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EAE46D-A536-415B-88D1-3187D1582B1C}" type="datetimeFigureOut">
              <a:rPr lang="en-IN" smtClean="0"/>
              <a:t>12-09-2026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3851693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EAE46D-A536-415B-88D1-3187D1582B1C}" type="datetimeFigureOut">
              <a:rPr lang="en-IN" smtClean="0"/>
              <a:t>12-09-2026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1016463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2633412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511A72E-CE5E-4A42-AFFA-4122DF5FA65F}"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61782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FEAE46D-A536-415B-88D1-3187D1582B1C}" type="datetimeFigureOut">
              <a:rPr lang="en-IN" smtClean="0"/>
              <a:t>12-09-2026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1101024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FEAE46D-A536-415B-88D1-3187D1582B1C}" type="datetimeFigureOut">
              <a:rPr lang="en-IN" smtClean="0"/>
              <a:t>12-09-2026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511A72E-CE5E-4A42-AFFA-4122DF5FA65F}"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604461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FEAE46D-A536-415B-88D1-3187D1582B1C}" type="datetimeFigureOut">
              <a:rPr lang="en-IN" smtClean="0"/>
              <a:t>12-09-2026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1436614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12465612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2767345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FEAE46D-A536-415B-88D1-3187D1582B1C}" type="datetimeFigureOut">
              <a:rPr lang="en-IN" smtClean="0"/>
              <a:t>12-09-2026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511A72E-CE5E-4A42-AFFA-4122DF5FA65F}" type="slidenum">
              <a:rPr lang="en-IN" smtClean="0"/>
              <a:t>‹#›</a:t>
            </a:fld>
            <a:endParaRPr lang="en-IN"/>
          </a:p>
        </p:txBody>
      </p:sp>
    </p:spTree>
    <p:extLst>
      <p:ext uri="{BB962C8B-B14F-4D97-AF65-F5344CB8AC3E}">
        <p14:creationId xmlns:p14="http://schemas.microsoft.com/office/powerpoint/2010/main" val="11000867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9BE66-3723-14E8-B4B7-6FAA3609BAF5}"/>
              </a:ext>
            </a:extLst>
          </p:cNvPr>
          <p:cNvSpPr>
            <a:spLocks noGrp="1"/>
          </p:cNvSpPr>
          <p:nvPr>
            <p:ph type="ctrTitle"/>
          </p:nvPr>
        </p:nvSpPr>
        <p:spPr/>
        <p:txBody>
          <a:bodyPr>
            <a:noAutofit/>
          </a:bodyPr>
          <a:lstStyle/>
          <a:p>
            <a:r>
              <a:rPr lang="en-IN" sz="3600" b="1" dirty="0">
                <a:latin typeface="Times New Roman" panose="02020603050405020304" pitchFamily="18" charset="0"/>
                <a:cs typeface="Times New Roman" panose="02020603050405020304" pitchFamily="18" charset="0"/>
              </a:rPr>
              <a:t> 			Week 1 Internship Report</a:t>
            </a:r>
            <a:br>
              <a:rPr lang="en-IN" sz="3600"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Computer Networking Fundamentals</a:t>
            </a:r>
            <a:br>
              <a:rPr lang="en-IN" sz="3600" dirty="0">
                <a:latin typeface="Times New Roman" panose="02020603050405020304" pitchFamily="18" charset="0"/>
                <a:cs typeface="Times New Roman" panose="02020603050405020304" pitchFamily="18" charset="0"/>
              </a:rPr>
            </a:br>
            <a:br>
              <a:rPr lang="en-IN" sz="3600" dirty="0">
                <a:latin typeface="Times New Roman" panose="02020603050405020304" pitchFamily="18" charset="0"/>
                <a:cs typeface="Times New Roman" panose="02020603050405020304" pitchFamily="18" charset="0"/>
              </a:rPr>
            </a:br>
            <a:br>
              <a:rPr lang="en-IN" sz="3600"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0D227FA-5551-4F9B-FAD3-2445BA448CEC}"/>
              </a:ext>
            </a:extLst>
          </p:cNvPr>
          <p:cNvSpPr>
            <a:spLocks noGrp="1"/>
          </p:cNvSpPr>
          <p:nvPr>
            <p:ph type="subTitle" idx="1"/>
          </p:nvPr>
        </p:nvSpPr>
        <p:spPr>
          <a:xfrm>
            <a:off x="2274581" y="3164888"/>
            <a:ext cx="8915399" cy="1126283"/>
          </a:xfrm>
        </p:spPr>
        <p:txBody>
          <a:bodyPr>
            <a:noAutofit/>
          </a:bodyPr>
          <a:lstStyle/>
          <a:p>
            <a:r>
              <a:rPr lang="en-IN" sz="3200" b="1" dirty="0">
                <a:solidFill>
                  <a:schemeClr val="tx1"/>
                </a:solidFill>
                <a:latin typeface="Times New Roman" panose="02020603050405020304" pitchFamily="18" charset="0"/>
                <a:cs typeface="Times New Roman" panose="02020603050405020304" pitchFamily="18" charset="0"/>
              </a:rPr>
              <a:t>Submitted By : </a:t>
            </a:r>
          </a:p>
          <a:p>
            <a:pPr marL="457200" indent="-457200">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Name: Krina Sorathiya</a:t>
            </a:r>
          </a:p>
          <a:p>
            <a:pPr marL="457200" indent="-457200">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Internship: DG Interns Hub</a:t>
            </a:r>
          </a:p>
          <a:p>
            <a:pPr marL="457200" indent="-457200">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Week</a:t>
            </a:r>
            <a:r>
              <a:rPr lang="en-IN" sz="2800">
                <a:solidFill>
                  <a:schemeClr val="tx1"/>
                </a:solidFill>
                <a:latin typeface="Times New Roman" panose="02020603050405020304" pitchFamily="18" charset="0"/>
                <a:cs typeface="Times New Roman" panose="02020603050405020304" pitchFamily="18" charset="0"/>
              </a:rPr>
              <a:t>: 4</a:t>
            </a:r>
            <a:endParaRPr lang="en-US" sz="2800"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8E120913-C8AB-6A6A-D481-93BC3E20F4CE}"/>
              </a:ext>
              <a:ext uri="{C183D7F6-B498-43B3-948B-1728B52AA6E4}">
                <adec:decorative xmlns:adec="http://schemas.microsoft.com/office/drawing/2017/decorative" val="1"/>
              </a:ext>
            </a:extLst>
          </p:cNvPr>
          <p:cNvCxnSpPr>
            <a:cxnSpLocks/>
          </p:cNvCxnSpPr>
          <p:nvPr/>
        </p:nvCxnSpPr>
        <p:spPr>
          <a:xfrm>
            <a:off x="2204040" y="2807452"/>
            <a:ext cx="8267315"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BD9033A8-AE2A-980D-E550-97860DC03221}"/>
              </a:ext>
              <a:ext uri="{C183D7F6-B498-43B3-948B-1728B52AA6E4}">
                <adec:decorative xmlns:adec="http://schemas.microsoft.com/office/drawing/2017/decorative" val="1"/>
              </a:ext>
            </a:extLst>
          </p:cNvPr>
          <p:cNvPicPr>
            <a:picLocks noChangeAspect="1"/>
          </p:cNvPicPr>
          <p:nvPr/>
        </p:nvPicPr>
        <p:blipFill>
          <a:blip r:embed="rId2" cstate="screen">
            <a:extLst>
              <a:ext uri="{BEBA8EAE-BF5A-486C-A8C5-ECC9F3942E4B}">
                <a14:imgProps xmlns:a14="http://schemas.microsoft.com/office/drawing/2010/main">
                  <a14:imgLayer r:embed="rId3">
                    <a14:imgEffect>
                      <a14:saturation sat="35000"/>
                    </a14:imgEffect>
                  </a14:imgLayer>
                </a14:imgProps>
              </a:ext>
              <a:ext uri="{28A0092B-C50C-407E-A947-70E740481C1C}">
                <a14:useLocalDpi xmlns:a14="http://schemas.microsoft.com/office/drawing/2010/main"/>
              </a:ext>
            </a:extLst>
          </a:blip>
          <a:stretch>
            <a:fillRect/>
          </a:stretch>
        </p:blipFill>
        <p:spPr>
          <a:xfrm>
            <a:off x="5760202" y="2664761"/>
            <a:ext cx="972078" cy="285381"/>
          </a:xfrm>
          <a:prstGeom prst="rect">
            <a:avLst/>
          </a:prstGeom>
        </p:spPr>
      </p:pic>
    </p:spTree>
    <p:extLst>
      <p:ext uri="{BB962C8B-B14F-4D97-AF65-F5344CB8AC3E}">
        <p14:creationId xmlns:p14="http://schemas.microsoft.com/office/powerpoint/2010/main" val="2854708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5FF1A-7F82-B738-751A-8DE2DD8012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92AD3D-9BDA-35D5-0F39-2271CEBF7588}"/>
              </a:ext>
            </a:extLst>
          </p:cNvPr>
          <p:cNvSpPr>
            <a:spLocks noGrp="1"/>
          </p:cNvSpPr>
          <p:nvPr>
            <p:ph type="ctrTitle"/>
          </p:nvPr>
        </p:nvSpPr>
        <p:spPr>
          <a:xfrm>
            <a:off x="4939124" y="218047"/>
            <a:ext cx="4273703" cy="647410"/>
          </a:xfrm>
        </p:spPr>
        <p:txBody>
          <a:bodyPr>
            <a:noAutofit/>
          </a:bodyPr>
          <a:lstStyle/>
          <a:p>
            <a:r>
              <a:rPr lang="en-IN" sz="3600" b="1" dirty="0">
                <a:solidFill>
                  <a:schemeClr val="tx1"/>
                </a:solidFill>
                <a:latin typeface="Times New Roman" panose="02020603050405020304" pitchFamily="18" charset="0"/>
                <a:cs typeface="Times New Roman" panose="02020603050405020304" pitchFamily="18" charset="0"/>
              </a:rPr>
              <a:t>Introduction</a:t>
            </a:r>
            <a:endParaRPr lang="en-IN" sz="3600"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25FE041-C64E-22E1-053D-4EB8487FCDF6}"/>
              </a:ext>
            </a:extLst>
          </p:cNvPr>
          <p:cNvSpPr>
            <a:spLocks noGrp="1"/>
          </p:cNvSpPr>
          <p:nvPr>
            <p:ph type="subTitle" idx="1"/>
          </p:nvPr>
        </p:nvSpPr>
        <p:spPr>
          <a:xfrm>
            <a:off x="2124339" y="1365585"/>
            <a:ext cx="9419961" cy="1126283"/>
          </a:xfrm>
        </p:spPr>
        <p:txBody>
          <a:bodyPr>
            <a:noAutofit/>
          </a:bodyPr>
          <a:lstStyle/>
          <a:p>
            <a:r>
              <a:rPr lang="en-IN" dirty="0">
                <a:latin typeface="Times New Roman" panose="02020603050405020304" pitchFamily="18" charset="0"/>
                <a:cs typeface="Times New Roman" panose="02020603050405020304" pitchFamily="18" charset="0"/>
              </a:rPr>
              <a:t>Network security is the practice of protecting computer systems, devices, services, and network traffic from unauthorized access, misuse, disruption, and data loss. It involves implementing appropriate security measures to protect network resources and maintain the confidentiality, integrity, and availability of information.</a:t>
            </a:r>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Security testing in a controlled laboratory environment helps learners understand how systems communicate and how potential weaknesses can be identified before they are exploited. It also provides practical knowledge of network scanning, service identification, and traffic analysis.</a:t>
            </a:r>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 this Week 4 practical, a small isolated lab network was designed using virtualization. Kali Linux was used as the attacker and security-testing machine, while a Windows or Linux virtual machine was configured as the target. A web server was installed and configured on the target system. Nmap was then used to identify open ports and running services, while Wireshark was used to capture and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network traffic such as HTTP, DNS, and ICMP.</a:t>
            </a:r>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practical activities provided hands-on experience in understanding network exposure, identifying potential security risks, and applying basic security recommendations in a controlled environment.</a:t>
            </a:r>
            <a:endParaRPr lang="en-IN" b="1"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442356F-5E2F-9C17-BE20-1FF3A72CFDC4}"/>
              </a:ext>
              <a:ext uri="{C183D7F6-B498-43B3-948B-1728B52AA6E4}">
                <adec:decorative xmlns:adec="http://schemas.microsoft.com/office/drawing/2017/decorative" val="1"/>
              </a:ext>
            </a:extLst>
          </p:cNvPr>
          <p:cNvCxnSpPr>
            <a:cxnSpLocks/>
          </p:cNvCxnSpPr>
          <p:nvPr/>
        </p:nvCxnSpPr>
        <p:spPr>
          <a:xfrm>
            <a:off x="2112583" y="1008148"/>
            <a:ext cx="8267315"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F0345415-7CFB-5AB3-D451-B3B8AF155288}"/>
              </a:ext>
              <a:ext uri="{C183D7F6-B498-43B3-948B-1728B52AA6E4}">
                <adec:decorative xmlns:adec="http://schemas.microsoft.com/office/drawing/2017/decorative" val="1"/>
              </a:ext>
            </a:extLst>
          </p:cNvPr>
          <p:cNvPicPr>
            <a:picLocks noChangeAspect="1"/>
          </p:cNvPicPr>
          <p:nvPr/>
        </p:nvPicPr>
        <p:blipFill>
          <a:blip r:embed="rId2" cstate="screen">
            <a:extLst>
              <a:ext uri="{BEBA8EAE-BF5A-486C-A8C5-ECC9F3942E4B}">
                <a14:imgProps xmlns:a14="http://schemas.microsoft.com/office/drawing/2010/main">
                  <a14:imgLayer r:embed="rId3">
                    <a14:imgEffect>
                      <a14:saturation sat="35000"/>
                    </a14:imgEffect>
                  </a14:imgLayer>
                </a14:imgProps>
              </a:ext>
              <a:ext uri="{28A0092B-C50C-407E-A947-70E740481C1C}">
                <a14:useLocalDpi xmlns:a14="http://schemas.microsoft.com/office/drawing/2010/main"/>
              </a:ext>
            </a:extLst>
          </a:blip>
          <a:stretch>
            <a:fillRect/>
          </a:stretch>
        </p:blipFill>
        <p:spPr>
          <a:xfrm>
            <a:off x="5609961" y="865457"/>
            <a:ext cx="972078" cy="285381"/>
          </a:xfrm>
          <a:prstGeom prst="rect">
            <a:avLst/>
          </a:prstGeom>
        </p:spPr>
      </p:pic>
    </p:spTree>
    <p:extLst>
      <p:ext uri="{BB962C8B-B14F-4D97-AF65-F5344CB8AC3E}">
        <p14:creationId xmlns:p14="http://schemas.microsoft.com/office/powerpoint/2010/main" val="1351505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40576-6AEA-4B67-D575-EA2FE82D14C6}"/>
              </a:ext>
            </a:extLst>
          </p:cNvPr>
          <p:cNvSpPr>
            <a:spLocks noGrp="1"/>
          </p:cNvSpPr>
          <p:nvPr>
            <p:ph type="title"/>
          </p:nvPr>
        </p:nvSpPr>
        <p:spPr>
          <a:xfrm>
            <a:off x="1640156" y="632651"/>
            <a:ext cx="8911687" cy="1280890"/>
          </a:xfrm>
        </p:spPr>
        <p:txBody>
          <a:bodyPr/>
          <a:lstStyle/>
          <a:p>
            <a:r>
              <a:rPr lang="en-US" b="1" dirty="0">
                <a:latin typeface="Times New Roman" panose="02020603050405020304" pitchFamily="18" charset="0"/>
                <a:cs typeface="Times New Roman" panose="02020603050405020304" pitchFamily="18" charset="0"/>
              </a:rPr>
              <a:t>Lab Environment and Network Topology</a:t>
            </a:r>
            <a:endParaRPr lang="en-IN"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51A2B2C-0585-B771-91A6-26615D675C75}"/>
              </a:ext>
            </a:extLst>
          </p:cNvPr>
          <p:cNvGraphicFramePr>
            <a:graphicFrameLocks noGrp="1"/>
          </p:cNvGraphicFramePr>
          <p:nvPr>
            <p:extLst>
              <p:ext uri="{D42A27DB-BD31-4B8C-83A1-F6EECF244321}">
                <p14:modId xmlns:p14="http://schemas.microsoft.com/office/powerpoint/2010/main" val="1541296046"/>
              </p:ext>
            </p:extLst>
          </p:nvPr>
        </p:nvGraphicFramePr>
        <p:xfrm>
          <a:off x="2304525" y="2035897"/>
          <a:ext cx="6400800" cy="1660525"/>
        </p:xfrm>
        <a:graphic>
          <a:graphicData uri="http://schemas.openxmlformats.org/drawingml/2006/table">
            <a:tbl>
              <a:tblPr firstRow="1" firstCol="1" bandRow="1">
                <a:tableStyleId>{5C22544A-7EE6-4342-B048-85BDC9FD1C3A}</a:tableStyleId>
              </a:tblPr>
              <a:tblGrid>
                <a:gridCol w="2133600">
                  <a:extLst>
                    <a:ext uri="{9D8B030D-6E8A-4147-A177-3AD203B41FA5}">
                      <a16:colId xmlns:a16="http://schemas.microsoft.com/office/drawing/2014/main" val="2170426188"/>
                    </a:ext>
                  </a:extLst>
                </a:gridCol>
                <a:gridCol w="2133600">
                  <a:extLst>
                    <a:ext uri="{9D8B030D-6E8A-4147-A177-3AD203B41FA5}">
                      <a16:colId xmlns:a16="http://schemas.microsoft.com/office/drawing/2014/main" val="314645863"/>
                    </a:ext>
                  </a:extLst>
                </a:gridCol>
                <a:gridCol w="2133600">
                  <a:extLst>
                    <a:ext uri="{9D8B030D-6E8A-4147-A177-3AD203B41FA5}">
                      <a16:colId xmlns:a16="http://schemas.microsoft.com/office/drawing/2014/main" val="4068344966"/>
                    </a:ext>
                  </a:extLst>
                </a:gridCol>
              </a:tblGrid>
              <a:tr h="0">
                <a:tc>
                  <a:txBody>
                    <a:bodyPr/>
                    <a:lstStyle/>
                    <a:p>
                      <a:pPr marL="0" marR="0">
                        <a:lnSpc>
                          <a:spcPct val="115000"/>
                        </a:lnSpc>
                        <a:spcAft>
                          <a:spcPts val="1000"/>
                        </a:spcAft>
                        <a:buNone/>
                      </a:pPr>
                      <a:r>
                        <a:rPr lang="en-US" sz="1400">
                          <a:effectLst/>
                        </a:rPr>
                        <a:t>Component</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400">
                          <a:effectLst/>
                        </a:rPr>
                        <a:t>Role</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400">
                          <a:effectLst/>
                        </a:rPr>
                        <a:t>Example</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81061352"/>
                  </a:ext>
                </a:extLst>
              </a:tr>
              <a:tr h="0">
                <a:tc>
                  <a:txBody>
                    <a:bodyPr/>
                    <a:lstStyle/>
                    <a:p>
                      <a:pPr marL="0" marR="0">
                        <a:lnSpc>
                          <a:spcPct val="115000"/>
                        </a:lnSpc>
                        <a:spcAft>
                          <a:spcPts val="1000"/>
                        </a:spcAft>
                        <a:buNone/>
                      </a:pPr>
                      <a:r>
                        <a:rPr lang="en-US" sz="1400">
                          <a:effectLst/>
                        </a:rPr>
                        <a:t>Kali Linux</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400">
                          <a:effectLst/>
                        </a:rPr>
                        <a:t>Attacker / Security Testing</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400">
                          <a:effectLst/>
                        </a:rPr>
                        <a:t>Nmap, Wireshark</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62407801"/>
                  </a:ext>
                </a:extLst>
              </a:tr>
              <a:tr h="0">
                <a:tc>
                  <a:txBody>
                    <a:bodyPr/>
                    <a:lstStyle/>
                    <a:p>
                      <a:pPr marL="0" marR="0">
                        <a:lnSpc>
                          <a:spcPct val="115000"/>
                        </a:lnSpc>
                        <a:spcAft>
                          <a:spcPts val="1000"/>
                        </a:spcAft>
                        <a:buNone/>
                      </a:pPr>
                      <a:r>
                        <a:rPr lang="en-US" sz="1400">
                          <a:effectLst/>
                        </a:rPr>
                        <a:t>Windows/Linux</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400">
                          <a:effectLst/>
                        </a:rPr>
                        <a:t>Target</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400">
                          <a:effectLst/>
                        </a:rPr>
                        <a:t>Apache/Nginx Web Server</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93104170"/>
                  </a:ext>
                </a:extLst>
              </a:tr>
              <a:tr h="0">
                <a:tc>
                  <a:txBody>
                    <a:bodyPr/>
                    <a:lstStyle/>
                    <a:p>
                      <a:pPr marL="0" marR="0">
                        <a:lnSpc>
                          <a:spcPct val="115000"/>
                        </a:lnSpc>
                        <a:spcAft>
                          <a:spcPts val="1000"/>
                        </a:spcAft>
                        <a:buNone/>
                      </a:pPr>
                      <a:r>
                        <a:rPr lang="en-US" sz="1400">
                          <a:effectLst/>
                        </a:rPr>
                        <a:t>VirtualBox/VMware</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400">
                          <a:effectLst/>
                        </a:rPr>
                        <a:t>Virtualization Platform</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400" dirty="0">
                          <a:effectLst/>
                        </a:rPr>
                        <a:t>Host-only / Internal / NAT lab network</a:t>
                      </a:r>
                      <a:endParaRPr lang="en-IN"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99252303"/>
                  </a:ext>
                </a:extLst>
              </a:tr>
            </a:tbl>
          </a:graphicData>
        </a:graphic>
      </p:graphicFrame>
      <p:sp>
        <p:nvSpPr>
          <p:cNvPr id="6" name="TextBox 5">
            <a:extLst>
              <a:ext uri="{FF2B5EF4-FFF2-40B4-BE49-F238E27FC236}">
                <a16:creationId xmlns:a16="http://schemas.microsoft.com/office/drawing/2014/main" id="{5B99B6F9-0941-A465-0453-3653483FE38D}"/>
              </a:ext>
            </a:extLst>
          </p:cNvPr>
          <p:cNvSpPr txBox="1"/>
          <p:nvPr/>
        </p:nvSpPr>
        <p:spPr>
          <a:xfrm>
            <a:off x="1995082" y="4379010"/>
            <a:ext cx="8177617" cy="1051570"/>
          </a:xfrm>
          <a:prstGeom prst="rect">
            <a:avLst/>
          </a:prstGeom>
          <a:noFill/>
        </p:spPr>
        <p:txBody>
          <a:bodyPr wrap="square">
            <a:spAutoFit/>
          </a:bodyPr>
          <a:lstStyle/>
          <a:p>
            <a:pPr marL="228600" marR="0">
              <a:lnSpc>
                <a:spcPct val="100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Kali Linux  ───── Virtual Lab Network ───── Target Windows/Linux</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Both machines must have compatible network settings and be able to communicate. Record the actual IP addresses used in the lab from your own environment.</a:t>
            </a:r>
            <a:endParaRPr lang="en-IN" sz="105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351141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B9D36-31E3-41EC-05E4-C9BF97B170BE}"/>
              </a:ext>
            </a:extLst>
          </p:cNvPr>
          <p:cNvSpPr>
            <a:spLocks noGrp="1"/>
          </p:cNvSpPr>
          <p:nvPr>
            <p:ph type="title"/>
          </p:nvPr>
        </p:nvSpPr>
        <p:spPr>
          <a:xfrm>
            <a:off x="1718814" y="683104"/>
            <a:ext cx="8911687" cy="1280890"/>
          </a:xfrm>
        </p:spPr>
        <p:txBody>
          <a:bodyPr/>
          <a:lstStyle/>
          <a:p>
            <a:r>
              <a:rPr lang="en-US" b="1" dirty="0">
                <a:latin typeface="Times New Roman" panose="02020603050405020304" pitchFamily="18" charset="0"/>
                <a:cs typeface="Times New Roman" panose="02020603050405020304" pitchFamily="18" charset="0"/>
              </a:rPr>
              <a:t>Virtual Machines</a:t>
            </a:r>
            <a:endParaRPr lang="en-IN"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16B66E3-2F27-3B47-A081-CEF0A24F82EC}"/>
              </a:ext>
            </a:extLst>
          </p:cNvPr>
          <p:cNvPicPr>
            <a:picLocks noChangeAspect="1"/>
          </p:cNvPicPr>
          <p:nvPr/>
        </p:nvPicPr>
        <p:blipFill>
          <a:blip r:embed="rId2"/>
          <a:stretch>
            <a:fillRect/>
          </a:stretch>
        </p:blipFill>
        <p:spPr>
          <a:xfrm>
            <a:off x="2974258" y="1963994"/>
            <a:ext cx="6400800" cy="4267200"/>
          </a:xfrm>
          <a:prstGeom prst="rect">
            <a:avLst/>
          </a:prstGeom>
        </p:spPr>
      </p:pic>
    </p:spTree>
    <p:extLst>
      <p:ext uri="{BB962C8B-B14F-4D97-AF65-F5344CB8AC3E}">
        <p14:creationId xmlns:p14="http://schemas.microsoft.com/office/powerpoint/2010/main" val="372526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68440-BCB4-84AC-FB4E-B26B84CAE2D2}"/>
              </a:ext>
            </a:extLst>
          </p:cNvPr>
          <p:cNvSpPr>
            <a:spLocks noGrp="1"/>
          </p:cNvSpPr>
          <p:nvPr>
            <p:ph type="title"/>
          </p:nvPr>
        </p:nvSpPr>
        <p:spPr>
          <a:xfrm>
            <a:off x="1640156" y="624110"/>
            <a:ext cx="8911687" cy="1280890"/>
          </a:xfrm>
        </p:spPr>
        <p:txBody>
          <a:bodyPr>
            <a:normAutofit/>
          </a:bodyPr>
          <a:lstStyle/>
          <a:p>
            <a:r>
              <a:rPr lang="en-US" b="1" dirty="0">
                <a:latin typeface="Times New Roman" panose="02020603050405020304" pitchFamily="18" charset="0"/>
                <a:cs typeface="Times New Roman" panose="02020603050405020304" pitchFamily="18" charset="0"/>
              </a:rPr>
              <a:t>Network Configuration</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3A3E3FC-7892-FD4F-1787-C460FC1B2DB0}"/>
              </a:ext>
            </a:extLst>
          </p:cNvPr>
          <p:cNvPicPr>
            <a:picLocks noChangeAspect="1"/>
          </p:cNvPicPr>
          <p:nvPr/>
        </p:nvPicPr>
        <p:blipFill>
          <a:blip r:embed="rId2"/>
          <a:stretch>
            <a:fillRect/>
          </a:stretch>
        </p:blipFill>
        <p:spPr>
          <a:xfrm>
            <a:off x="3023419" y="2062317"/>
            <a:ext cx="6400800" cy="4267200"/>
          </a:xfrm>
          <a:prstGeom prst="rect">
            <a:avLst/>
          </a:prstGeom>
        </p:spPr>
      </p:pic>
    </p:spTree>
    <p:extLst>
      <p:ext uri="{BB962C8B-B14F-4D97-AF65-F5344CB8AC3E}">
        <p14:creationId xmlns:p14="http://schemas.microsoft.com/office/powerpoint/2010/main" val="731683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282CE-8632-7010-64C1-1EFFE5CD0849}"/>
              </a:ext>
            </a:extLst>
          </p:cNvPr>
          <p:cNvSpPr>
            <a:spLocks noGrp="1"/>
          </p:cNvSpPr>
          <p:nvPr>
            <p:ph type="title"/>
          </p:nvPr>
        </p:nvSpPr>
        <p:spPr>
          <a:xfrm>
            <a:off x="1640156" y="624110"/>
            <a:ext cx="8911687" cy="1280890"/>
          </a:xfrm>
        </p:spPr>
        <p:txBody>
          <a:bodyPr/>
          <a:lstStyle/>
          <a:p>
            <a:r>
              <a:rPr lang="en-US" b="1" dirty="0">
                <a:latin typeface="Times New Roman" panose="02020603050405020304" pitchFamily="18" charset="0"/>
                <a:cs typeface="Times New Roman" panose="02020603050405020304" pitchFamily="18" charset="0"/>
              </a:rPr>
              <a:t>Setup Basic Network</a:t>
            </a:r>
            <a:endParaRPr lang="en-IN"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2B1D168-300F-C685-FBFC-6344EBCD1D28}"/>
              </a:ext>
            </a:extLst>
          </p:cNvPr>
          <p:cNvSpPr>
            <a:spLocks noGrp="1"/>
          </p:cNvSpPr>
          <p:nvPr>
            <p:ph idx="1"/>
          </p:nvPr>
        </p:nvSpPr>
        <p:spPr>
          <a:xfrm>
            <a:off x="1636443" y="1264555"/>
            <a:ext cx="8915400" cy="3777622"/>
          </a:xfrm>
        </p:spPr>
        <p:txBody>
          <a:bodyPr>
            <a:noAutofit/>
          </a:bodyPr>
          <a:lstStyle/>
          <a:p>
            <a:r>
              <a:rPr lang="en-US" sz="1600" dirty="0">
                <a:latin typeface="Times New Roman" panose="02020603050405020304" pitchFamily="18" charset="0"/>
                <a:cs typeface="Times New Roman" panose="02020603050405020304" pitchFamily="18" charset="0"/>
              </a:rPr>
              <a:t>A small virtual network was created to allow controlled communication between the attacker and target machines.</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Step-by-Step Procedure:</a:t>
            </a:r>
            <a:endParaRPr lang="en-IN" sz="1600" b="1"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Open VirtualBox or VMware.</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Kali Linux is configured as the attacker machine.</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Create or select a Windows/Linux VM as the target.</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Configure both network adapters so that the machines can communicate on the same lab network.</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Start both machines.</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Check the IP address on the target machine.</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From Kali, test connectivity to the target using ping.</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Confirm that communication is successful before starting security testing.</a:t>
            </a:r>
            <a:endParaRPr lang="en-IN" sz="1600" dirty="0">
              <a:latin typeface="Times New Roman" panose="02020603050405020304" pitchFamily="18" charset="0"/>
              <a:cs typeface="Times New Roman" panose="02020603050405020304" pitchFamily="18" charset="0"/>
            </a:endParaRPr>
          </a:p>
          <a:p>
            <a:r>
              <a:rPr lang="en-US" sz="1600" dirty="0" err="1">
                <a:latin typeface="Times New Roman" panose="02020603050405020304" pitchFamily="18" charset="0"/>
                <a:cs typeface="Times New Roman" panose="02020603050405020304" pitchFamily="18" charset="0"/>
              </a:rPr>
              <a:t>ip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addr</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ping &lt;TARGET-IP&gt;</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The exact IP address should be taken from the student's own lab. Successful ping confirms basic connectivity when ICMP is permitted.</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7608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10E01-7649-D073-FDC5-D33970A30FAE}"/>
              </a:ext>
            </a:extLst>
          </p:cNvPr>
          <p:cNvSpPr>
            <a:spLocks noGrp="1"/>
          </p:cNvSpPr>
          <p:nvPr>
            <p:ph type="title"/>
          </p:nvPr>
        </p:nvSpPr>
        <p:spPr>
          <a:xfrm>
            <a:off x="1973493" y="643775"/>
            <a:ext cx="8911687" cy="1280890"/>
          </a:xfrm>
        </p:spPr>
        <p:txBody>
          <a:bodyPr/>
          <a:lstStyle/>
          <a:p>
            <a:r>
              <a:rPr lang="en-US" b="1" dirty="0">
                <a:latin typeface="Times New Roman" panose="02020603050405020304" pitchFamily="18" charset="0"/>
                <a:cs typeface="Times New Roman" panose="02020603050405020304" pitchFamily="18" charset="0"/>
              </a:rPr>
              <a:t>Kali IP / Connectivity</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94AC364-53AB-D587-568D-50155DE42B59}"/>
              </a:ext>
            </a:extLst>
          </p:cNvPr>
          <p:cNvPicPr>
            <a:picLocks noChangeAspect="1"/>
          </p:cNvPicPr>
          <p:nvPr/>
        </p:nvPicPr>
        <p:blipFill>
          <a:blip r:embed="rId2"/>
          <a:stretch>
            <a:fillRect/>
          </a:stretch>
        </p:blipFill>
        <p:spPr>
          <a:xfrm>
            <a:off x="3053868" y="2328196"/>
            <a:ext cx="6398895" cy="3479800"/>
          </a:xfrm>
          <a:prstGeom prst="rect">
            <a:avLst/>
          </a:prstGeom>
        </p:spPr>
      </p:pic>
    </p:spTree>
    <p:extLst>
      <p:ext uri="{BB962C8B-B14F-4D97-AF65-F5344CB8AC3E}">
        <p14:creationId xmlns:p14="http://schemas.microsoft.com/office/powerpoint/2010/main" val="1274752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87007-7698-9A37-7803-0D3C4D97F724}"/>
              </a:ext>
            </a:extLst>
          </p:cNvPr>
          <p:cNvSpPr>
            <a:spLocks noGrp="1"/>
          </p:cNvSpPr>
          <p:nvPr>
            <p:ph type="title"/>
          </p:nvPr>
        </p:nvSpPr>
        <p:spPr>
          <a:xfrm>
            <a:off x="1640156" y="620372"/>
            <a:ext cx="8911687" cy="1280890"/>
          </a:xfrm>
        </p:spPr>
        <p:txBody>
          <a:bodyPr/>
          <a:lstStyle/>
          <a:p>
            <a:r>
              <a:rPr lang="en-US" b="1" dirty="0">
                <a:latin typeface="Times New Roman" panose="02020603050405020304" pitchFamily="18" charset="0"/>
                <a:cs typeface="Times New Roman" panose="02020603050405020304" pitchFamily="18" charset="0"/>
              </a:rPr>
              <a:t>Install and Configure Web Server</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FCF663E-CB78-CE5A-D7BB-D56E96F2AF57}"/>
              </a:ext>
            </a:extLst>
          </p:cNvPr>
          <p:cNvSpPr txBox="1"/>
          <p:nvPr/>
        </p:nvSpPr>
        <p:spPr>
          <a:xfrm>
            <a:off x="1780508" y="1589892"/>
            <a:ext cx="8771335" cy="4801314"/>
          </a:xfrm>
          <a:prstGeom prst="rect">
            <a:avLst/>
          </a:prstGeom>
          <a:noFill/>
        </p:spPr>
        <p:txBody>
          <a:bodyPr wrap="square">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basic web service was configured on the target machine. Apache or Nginx can be used depending on the operating system. The objective is to create a service that can later be discovered through Nmap and observed through Wireshark.</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Linux – Apache Example</a:t>
            </a:r>
            <a:endParaRPr lang="en-IN" b="1"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apt update</a:t>
            </a:r>
            <a:endParaRPr lang="en-IN"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apt install apache2 -y</a:t>
            </a:r>
            <a:endParaRPr lang="en-IN"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systemctl</a:t>
            </a:r>
            <a:r>
              <a:rPr lang="en-US" dirty="0">
                <a:latin typeface="Times New Roman" panose="02020603050405020304" pitchFamily="18" charset="0"/>
                <a:cs typeface="Times New Roman" panose="02020603050405020304" pitchFamily="18" charset="0"/>
              </a:rPr>
              <a:t> start apache2</a:t>
            </a:r>
            <a:endParaRPr lang="en-IN"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systemctl</a:t>
            </a:r>
            <a:r>
              <a:rPr lang="en-US" dirty="0">
                <a:latin typeface="Times New Roman" panose="02020603050405020304" pitchFamily="18" charset="0"/>
                <a:cs typeface="Times New Roman" panose="02020603050405020304" pitchFamily="18" charset="0"/>
              </a:rPr>
              <a:t> enable apache2</a:t>
            </a:r>
            <a:endParaRPr lang="en-IN"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systemctl</a:t>
            </a:r>
            <a:r>
              <a:rPr lang="en-US" dirty="0">
                <a:latin typeface="Times New Roman" panose="02020603050405020304" pitchFamily="18" charset="0"/>
                <a:cs typeface="Times New Roman" panose="02020603050405020304" pitchFamily="18" charset="0"/>
              </a:rPr>
              <a:t> status apache2</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After the service starts, open the target IP address in a browser from the lab network.</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Verification</a:t>
            </a:r>
            <a:endParaRPr lang="en-IN" b="1"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Confirm the web server service is active.</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Open the target IP in a browser.</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Verify that the default web page or configured test page loads.</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Record the service port, normally HTTP port 80 when configured with default settings.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6155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BCA39-90AE-636F-C90C-57330F8FE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EA663E-99F2-E5A6-943D-219660C5BF9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 Web Page</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5B34E15-5ACD-CF6C-E7B4-691947E6608B}"/>
              </a:ext>
            </a:extLst>
          </p:cNvPr>
          <p:cNvPicPr>
            <a:picLocks noChangeAspect="1"/>
          </p:cNvPicPr>
          <p:nvPr/>
        </p:nvPicPr>
        <p:blipFill>
          <a:blip r:embed="rId2"/>
          <a:stretch>
            <a:fillRect/>
          </a:stretch>
        </p:blipFill>
        <p:spPr>
          <a:xfrm>
            <a:off x="3060067" y="1905000"/>
            <a:ext cx="6400800" cy="3604260"/>
          </a:xfrm>
          <a:prstGeom prst="rect">
            <a:avLst/>
          </a:prstGeom>
        </p:spPr>
      </p:pic>
    </p:spTree>
    <p:extLst>
      <p:ext uri="{BB962C8B-B14F-4D97-AF65-F5344CB8AC3E}">
        <p14:creationId xmlns:p14="http://schemas.microsoft.com/office/powerpoint/2010/main" val="2554556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89CE8-6720-2C0A-86D9-FBBC3BAB9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9F691-718A-18E8-DBFF-85C4DBF0829E}"/>
              </a:ext>
            </a:extLst>
          </p:cNvPr>
          <p:cNvSpPr>
            <a:spLocks noGrp="1"/>
          </p:cNvSpPr>
          <p:nvPr>
            <p:ph type="title"/>
          </p:nvPr>
        </p:nvSpPr>
        <p:spPr/>
        <p:txBody>
          <a:bodyPr/>
          <a:lstStyle/>
          <a:p>
            <a:r>
              <a:rPr lang="en-US" b="1" dirty="0"/>
              <a:t>Network Scanning Using Nmap</a:t>
            </a:r>
            <a:endParaRPr lang="en-IN" b="1" dirty="0"/>
          </a:p>
        </p:txBody>
      </p:sp>
      <p:sp>
        <p:nvSpPr>
          <p:cNvPr id="9" name="TextBox 8">
            <a:extLst>
              <a:ext uri="{FF2B5EF4-FFF2-40B4-BE49-F238E27FC236}">
                <a16:creationId xmlns:a16="http://schemas.microsoft.com/office/drawing/2014/main" id="{30ED6DB9-23DC-F364-4394-B9CF315D87EA}"/>
              </a:ext>
            </a:extLst>
          </p:cNvPr>
          <p:cNvSpPr txBox="1"/>
          <p:nvPr/>
        </p:nvSpPr>
        <p:spPr>
          <a:xfrm>
            <a:off x="1394728" y="2223133"/>
            <a:ext cx="3767207" cy="3139321"/>
          </a:xfrm>
          <a:prstGeom prst="rect">
            <a:avLst/>
          </a:prstGeom>
          <a:noFill/>
        </p:spPr>
        <p:txBody>
          <a:bodyPr wrap="square">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Nmap is a network discovery and security auditing tool. In this practical it is used only against the authorized lab target. The scan helps identify open ports and the services associated with them.</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5.1 Basic Scan</a:t>
            </a:r>
            <a:endParaRPr lang="en-IN" b="1"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&lt;TARGET-IP&gt;</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scan provides an initial list of discovered ports and their states.</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D90029D-E464-353F-4D2B-8474596682F5}"/>
              </a:ext>
            </a:extLst>
          </p:cNvPr>
          <p:cNvPicPr>
            <a:picLocks noChangeAspect="1"/>
          </p:cNvPicPr>
          <p:nvPr/>
        </p:nvPicPr>
        <p:blipFill>
          <a:blip r:embed="rId2"/>
          <a:stretch>
            <a:fillRect/>
          </a:stretch>
        </p:blipFill>
        <p:spPr>
          <a:xfrm>
            <a:off x="5379697" y="1659194"/>
            <a:ext cx="6400800" cy="4267200"/>
          </a:xfrm>
          <a:prstGeom prst="rect">
            <a:avLst/>
          </a:prstGeom>
        </p:spPr>
      </p:pic>
    </p:spTree>
    <p:extLst>
      <p:ext uri="{BB962C8B-B14F-4D97-AF65-F5344CB8AC3E}">
        <p14:creationId xmlns:p14="http://schemas.microsoft.com/office/powerpoint/2010/main" val="1276358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738C0-E838-69AA-4F14-6334E57CAD09}"/>
              </a:ext>
            </a:extLst>
          </p:cNvPr>
          <p:cNvSpPr>
            <a:spLocks noGrp="1"/>
          </p:cNvSpPr>
          <p:nvPr>
            <p:ph type="title"/>
          </p:nvPr>
        </p:nvSpPr>
        <p:spPr>
          <a:xfrm>
            <a:off x="1684420" y="624110"/>
            <a:ext cx="8911687" cy="1280890"/>
          </a:xfrm>
        </p:spPr>
        <p:txBody>
          <a:bodyPr/>
          <a:lstStyle/>
          <a:p>
            <a:r>
              <a:rPr lang="en-US" b="1" dirty="0">
                <a:latin typeface="Times New Roman" panose="02020603050405020304" pitchFamily="18" charset="0"/>
                <a:cs typeface="Times New Roman" panose="02020603050405020304" pitchFamily="18" charset="0"/>
              </a:rPr>
              <a:t>Nmap Result Analysis:</a:t>
            </a:r>
            <a:endParaRPr lang="en-IN" b="1"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E4FA3B18-2A45-0D99-8562-5C3DEF7D3027}"/>
              </a:ext>
            </a:extLst>
          </p:cNvPr>
          <p:cNvGraphicFramePr>
            <a:graphicFrameLocks noGrp="1"/>
          </p:cNvGraphicFramePr>
          <p:nvPr>
            <p:extLst>
              <p:ext uri="{D42A27DB-BD31-4B8C-83A1-F6EECF244321}">
                <p14:modId xmlns:p14="http://schemas.microsoft.com/office/powerpoint/2010/main" val="3578697381"/>
              </p:ext>
            </p:extLst>
          </p:nvPr>
        </p:nvGraphicFramePr>
        <p:xfrm>
          <a:off x="1445381" y="1264555"/>
          <a:ext cx="9389767" cy="5401717"/>
        </p:xfrm>
        <a:graphic>
          <a:graphicData uri="http://schemas.openxmlformats.org/drawingml/2006/table">
            <a:tbl>
              <a:tblPr firstRow="1" firstCol="1" bandRow="1">
                <a:tableStyleId>{5C22544A-7EE6-4342-B048-85BDC9FD1C3A}</a:tableStyleId>
              </a:tblPr>
              <a:tblGrid>
                <a:gridCol w="1427014">
                  <a:extLst>
                    <a:ext uri="{9D8B030D-6E8A-4147-A177-3AD203B41FA5}">
                      <a16:colId xmlns:a16="http://schemas.microsoft.com/office/drawing/2014/main" val="1214847197"/>
                    </a:ext>
                  </a:extLst>
                </a:gridCol>
                <a:gridCol w="1359494">
                  <a:extLst>
                    <a:ext uri="{9D8B030D-6E8A-4147-A177-3AD203B41FA5}">
                      <a16:colId xmlns:a16="http://schemas.microsoft.com/office/drawing/2014/main" val="4084552726"/>
                    </a:ext>
                  </a:extLst>
                </a:gridCol>
                <a:gridCol w="1925247">
                  <a:extLst>
                    <a:ext uri="{9D8B030D-6E8A-4147-A177-3AD203B41FA5}">
                      <a16:colId xmlns:a16="http://schemas.microsoft.com/office/drawing/2014/main" val="1495824270"/>
                    </a:ext>
                  </a:extLst>
                </a:gridCol>
                <a:gridCol w="4678012">
                  <a:extLst>
                    <a:ext uri="{9D8B030D-6E8A-4147-A177-3AD203B41FA5}">
                      <a16:colId xmlns:a16="http://schemas.microsoft.com/office/drawing/2014/main" val="166381738"/>
                    </a:ext>
                  </a:extLst>
                </a:gridCol>
              </a:tblGrid>
              <a:tr h="298391">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Port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State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Service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Observation</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extLst>
                  <a:ext uri="{0D108BD9-81ED-4DB2-BD59-A6C34878D82A}">
                    <a16:rowId xmlns:a16="http://schemas.microsoft.com/office/drawing/2014/main" val="2963536568"/>
                  </a:ext>
                </a:extLst>
              </a:tr>
              <a:tr h="622717">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21/tcp</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Open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FTP</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FTP service vsftpd 3.0.3 is running. FTP may transmit data without encryption.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extLst>
                  <a:ext uri="{0D108BD9-81ED-4DB2-BD59-A6C34878D82A}">
                    <a16:rowId xmlns:a16="http://schemas.microsoft.com/office/drawing/2014/main" val="2968745545"/>
                  </a:ext>
                </a:extLst>
              </a:tr>
              <a:tr h="622717">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22/tcp</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Open</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SSH</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OpenSSH 6.6.1p1 is detected. It provides remote administration access.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extLst>
                  <a:ext uri="{0D108BD9-81ED-4DB2-BD59-A6C34878D82A}">
                    <a16:rowId xmlns:a16="http://schemas.microsoft.com/office/drawing/2014/main" val="1910366708"/>
                  </a:ext>
                </a:extLst>
              </a:tr>
              <a:tr h="551128">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25/tcp</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Open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SMTP</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Postfix SMTP service is running for email communication.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extLst>
                  <a:ext uri="{0D108BD9-81ED-4DB2-BD59-A6C34878D82A}">
                    <a16:rowId xmlns:a16="http://schemas.microsoft.com/office/drawing/2014/main" val="2565775349"/>
                  </a:ext>
                </a:extLst>
              </a:tr>
              <a:tr h="363913">
                <a:tc>
                  <a:txBody>
                    <a:bodyPr/>
                    <a:lstStyle/>
                    <a:p>
                      <a:pPr marL="0" marR="0"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53/</a:t>
                      </a:r>
                      <a:r>
                        <a:rPr lang="en-IN" sz="1400" dirty="0" err="1">
                          <a:effectLst/>
                          <a:latin typeface="Times New Roman" panose="02020603050405020304" pitchFamily="18" charset="0"/>
                          <a:cs typeface="Times New Roman" panose="02020603050405020304" pitchFamily="18" charset="0"/>
                        </a:rPr>
                        <a:t>tcp</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Open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DNS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ISC BIND 9.9.5 is detected as the DNS service.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extLst>
                  <a:ext uri="{0D108BD9-81ED-4DB2-BD59-A6C34878D82A}">
                    <a16:rowId xmlns:a16="http://schemas.microsoft.com/office/drawing/2014/main" val="150808943"/>
                  </a:ext>
                </a:extLst>
              </a:tr>
              <a:tr h="551128">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80/tcp</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Open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HTTP</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Apache 2.4.7 web server is running and serving HTTP traffic.</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extLst>
                  <a:ext uri="{0D108BD9-81ED-4DB2-BD59-A6C34878D82A}">
                    <a16:rowId xmlns:a16="http://schemas.microsoft.com/office/drawing/2014/main" val="2525451072"/>
                  </a:ext>
                </a:extLst>
              </a:tr>
              <a:tr h="738341">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111/tcp</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Open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RPCBind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RPCBind is running and provides port-mapping functionality for RPC services.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extLst>
                  <a:ext uri="{0D108BD9-81ED-4DB2-BD59-A6C34878D82A}">
                    <a16:rowId xmlns:a16="http://schemas.microsoft.com/office/drawing/2014/main" val="3232182299"/>
                  </a:ext>
                </a:extLst>
              </a:tr>
              <a:tr h="363913">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443/tcp</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Open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HTTPS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Apache 2.4.7 is providing HTTPS/SSL web service.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extLst>
                  <a:ext uri="{0D108BD9-81ED-4DB2-BD59-A6C34878D82A}">
                    <a16:rowId xmlns:a16="http://schemas.microsoft.com/office/drawing/2014/main" val="1503855859"/>
                  </a:ext>
                </a:extLst>
              </a:tr>
              <a:tr h="551128">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3306/tcp</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Open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MySQL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MySQL 5.5.60 database service is externally accessible.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extLst>
                  <a:ext uri="{0D108BD9-81ED-4DB2-BD59-A6C34878D82A}">
                    <a16:rowId xmlns:a16="http://schemas.microsoft.com/office/drawing/2014/main" val="2688615192"/>
                  </a:ext>
                </a:extLst>
              </a:tr>
              <a:tr h="738341">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8080/tcp</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Open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HTTP-Proxy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tc>
                  <a:txBody>
                    <a:bodyPr/>
                    <a:lstStyle/>
                    <a:p>
                      <a:pPr marL="0" marR="0"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Apache Tomcat/Coyote JSP Engine 1.1 is detected on the alternate web application port.</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39587" marR="39587" marT="0" marB="0"/>
                </a:tc>
                <a:extLst>
                  <a:ext uri="{0D108BD9-81ED-4DB2-BD59-A6C34878D82A}">
                    <a16:rowId xmlns:a16="http://schemas.microsoft.com/office/drawing/2014/main" val="2105511338"/>
                  </a:ext>
                </a:extLst>
              </a:tr>
            </a:tbl>
          </a:graphicData>
        </a:graphic>
      </p:graphicFrame>
    </p:spTree>
    <p:extLst>
      <p:ext uri="{BB962C8B-B14F-4D97-AF65-F5344CB8AC3E}">
        <p14:creationId xmlns:p14="http://schemas.microsoft.com/office/powerpoint/2010/main" val="411445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645CF-8276-AA5C-8E3B-0838EE754E4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Traffic Analysis Using Wireshark:</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730A417-7184-9EC8-2F38-826D835C2572}"/>
              </a:ext>
            </a:extLst>
          </p:cNvPr>
          <p:cNvSpPr txBox="1"/>
          <p:nvPr/>
        </p:nvSpPr>
        <p:spPr>
          <a:xfrm>
            <a:off x="1640157" y="1513725"/>
            <a:ext cx="4298528" cy="4801314"/>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Wireshark is a packet-analysis tool used to capture and inspect network traffic. It can show communication details such as source and destination addresses, protocols, ports, packet timing and protocol fields.</a:t>
            </a: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6.1 Start Capture:</a:t>
            </a:r>
            <a:endParaRPr lang="en-IN" b="1"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Open Wireshark on the appropriate lab interface.</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Select the interface connected to the lab network.</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Start packet capture.</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Generate traffic from the lab machines, such as ping or opening the web page.</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Stop the capture after enough packets are collected.</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Apply display filters to focus on specific protocols.</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CCC6757-A8B6-8F99-814A-EDB710D96200}"/>
              </a:ext>
            </a:extLst>
          </p:cNvPr>
          <p:cNvPicPr>
            <a:picLocks noChangeAspect="1"/>
          </p:cNvPicPr>
          <p:nvPr/>
        </p:nvPicPr>
        <p:blipFill>
          <a:blip r:embed="rId2"/>
          <a:stretch>
            <a:fillRect/>
          </a:stretch>
        </p:blipFill>
        <p:spPr>
          <a:xfrm>
            <a:off x="6096000" y="2228542"/>
            <a:ext cx="5869858" cy="3600450"/>
          </a:xfrm>
          <a:prstGeom prst="rect">
            <a:avLst/>
          </a:prstGeom>
        </p:spPr>
      </p:pic>
    </p:spTree>
    <p:extLst>
      <p:ext uri="{BB962C8B-B14F-4D97-AF65-F5344CB8AC3E}">
        <p14:creationId xmlns:p14="http://schemas.microsoft.com/office/powerpoint/2010/main" val="2943774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E506C-E5A0-E328-9432-8C72B8A3677C}"/>
              </a:ext>
            </a:extLst>
          </p:cNvPr>
          <p:cNvSpPr>
            <a:spLocks noGrp="1"/>
          </p:cNvSpPr>
          <p:nvPr>
            <p:ph type="title"/>
          </p:nvPr>
        </p:nvSpPr>
        <p:spPr>
          <a:xfrm>
            <a:off x="1640156" y="682833"/>
            <a:ext cx="8911687" cy="1280890"/>
          </a:xfrm>
        </p:spPr>
        <p:txBody>
          <a:bodyPr/>
          <a:lstStyle/>
          <a:p>
            <a:r>
              <a:rPr lang="en-US" b="1" dirty="0">
                <a:latin typeface="Times New Roman" panose="02020603050405020304" pitchFamily="18" charset="0"/>
                <a:cs typeface="Times New Roman" panose="02020603050405020304" pitchFamily="18" charset="0"/>
              </a:rPr>
              <a:t>ICMP Analysis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64D1F79-D990-2F44-F0E3-DCE32FB5E838}"/>
              </a:ext>
            </a:extLst>
          </p:cNvPr>
          <p:cNvSpPr txBox="1"/>
          <p:nvPr/>
        </p:nvSpPr>
        <p:spPr>
          <a:xfrm>
            <a:off x="991998" y="1704997"/>
            <a:ext cx="5173910" cy="1754326"/>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icmp</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ICMP packets can be observed when the lab machines use ping. An ICMP echo request is sent by the source and an echo reply may be returned by the destination when permitted.</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7DF2959-21BD-DD0F-7EB1-B5C8315273AE}"/>
              </a:ext>
            </a:extLst>
          </p:cNvPr>
          <p:cNvPicPr>
            <a:picLocks noChangeAspect="1"/>
          </p:cNvPicPr>
          <p:nvPr/>
        </p:nvPicPr>
        <p:blipFill>
          <a:blip r:embed="rId2"/>
          <a:stretch>
            <a:fillRect/>
          </a:stretch>
        </p:blipFill>
        <p:spPr>
          <a:xfrm>
            <a:off x="5412659" y="2985887"/>
            <a:ext cx="6400800" cy="3600450"/>
          </a:xfrm>
          <a:prstGeom prst="rect">
            <a:avLst/>
          </a:prstGeom>
        </p:spPr>
      </p:pic>
    </p:spTree>
    <p:extLst>
      <p:ext uri="{BB962C8B-B14F-4D97-AF65-F5344CB8AC3E}">
        <p14:creationId xmlns:p14="http://schemas.microsoft.com/office/powerpoint/2010/main" val="4007496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CAD31-218C-507A-9700-C20B2A34520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DNS Packets &amp; HTTP Packets</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5F05A13-BE71-A5B6-8A69-10E6C777D4FB}"/>
              </a:ext>
            </a:extLst>
          </p:cNvPr>
          <p:cNvPicPr>
            <a:picLocks noChangeAspect="1"/>
          </p:cNvPicPr>
          <p:nvPr/>
        </p:nvPicPr>
        <p:blipFill>
          <a:blip r:embed="rId2"/>
          <a:stretch>
            <a:fillRect/>
          </a:stretch>
        </p:blipFill>
        <p:spPr>
          <a:xfrm>
            <a:off x="457200" y="1352551"/>
            <a:ext cx="5638800" cy="3600450"/>
          </a:xfrm>
          <a:prstGeom prst="rect">
            <a:avLst/>
          </a:prstGeom>
        </p:spPr>
      </p:pic>
      <p:pic>
        <p:nvPicPr>
          <p:cNvPr id="7" name="Picture 6">
            <a:extLst>
              <a:ext uri="{FF2B5EF4-FFF2-40B4-BE49-F238E27FC236}">
                <a16:creationId xmlns:a16="http://schemas.microsoft.com/office/drawing/2014/main" id="{DB1C333D-3543-B679-CFF1-38A5124C4498}"/>
              </a:ext>
            </a:extLst>
          </p:cNvPr>
          <p:cNvPicPr>
            <a:picLocks noChangeAspect="1"/>
          </p:cNvPicPr>
          <p:nvPr/>
        </p:nvPicPr>
        <p:blipFill>
          <a:blip r:embed="rId3"/>
          <a:stretch>
            <a:fillRect/>
          </a:stretch>
        </p:blipFill>
        <p:spPr>
          <a:xfrm>
            <a:off x="6174658" y="3152776"/>
            <a:ext cx="5909186" cy="3600450"/>
          </a:xfrm>
          <a:prstGeom prst="rect">
            <a:avLst/>
          </a:prstGeom>
        </p:spPr>
      </p:pic>
    </p:spTree>
    <p:extLst>
      <p:ext uri="{BB962C8B-B14F-4D97-AF65-F5344CB8AC3E}">
        <p14:creationId xmlns:p14="http://schemas.microsoft.com/office/powerpoint/2010/main" val="1831334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70AA99D-0722-36B5-5E13-5300DB2DA8EC}"/>
              </a:ext>
            </a:extLst>
          </p:cNvPr>
          <p:cNvSpPr txBox="1"/>
          <p:nvPr/>
        </p:nvSpPr>
        <p:spPr>
          <a:xfrm>
            <a:off x="1641988" y="737561"/>
            <a:ext cx="8504902"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Complete Security Testing Workflow:</a:t>
            </a:r>
            <a:endParaRPr lang="en-IN" sz="3600" b="1"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2F8BE97C-FFC3-632E-688F-1671703E9531}"/>
              </a:ext>
            </a:extLst>
          </p:cNvPr>
          <p:cNvSpPr>
            <a:spLocks noGrp="1"/>
          </p:cNvSpPr>
          <p:nvPr>
            <p:ph idx="1"/>
          </p:nvPr>
        </p:nvSpPr>
        <p:spPr>
          <a:xfrm>
            <a:off x="1360180" y="1540189"/>
            <a:ext cx="10222219" cy="3777622"/>
          </a:xfrm>
        </p:spPr>
        <p:txBody>
          <a:bodyPr>
            <a:noAutofit/>
          </a:bodyPr>
          <a:lstStyle/>
          <a:p>
            <a:r>
              <a:rPr lang="en-US" dirty="0">
                <a:latin typeface="Times New Roman" panose="02020603050405020304" pitchFamily="18" charset="0"/>
                <a:cs typeface="Times New Roman" panose="02020603050405020304" pitchFamily="18" charset="0"/>
              </a:rPr>
              <a:t>The complete workflow combines network setup, service deployment, scanning and packet analysis.</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Step 1 – Build the isolated virtual lab.</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Step 2 – Connect attacker and target to the same virtual network.</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Step 3 – Verify connectivity.</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Step 4 – Install and start the web server on the target.</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Step 5 – Confirm the web service is accessible.</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Step 6 – Scan the target with Nmap.</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Step 7 – Record open ports and running services.</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Step 8 – Capture network traffic using Wireshark.</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Step 9 – Filter ICMP, DNS and HTTP traffic where available.</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Step 10 – Compare scan results with observed network activity and document findings.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5851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6ECFF-0C29-6B2D-3FA7-EA2BDDB7DB1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F38DA6-0027-C8FB-F0E7-86606892ECB2}"/>
              </a:ext>
            </a:extLst>
          </p:cNvPr>
          <p:cNvSpPr>
            <a:spLocks noGrp="1"/>
          </p:cNvSpPr>
          <p:nvPr>
            <p:ph idx="1"/>
          </p:nvPr>
        </p:nvSpPr>
        <p:spPr/>
        <p:txBody>
          <a:bodyPr/>
          <a:lstStyle/>
          <a:p>
            <a:r>
              <a:rPr lang="en-US" b="1" dirty="0"/>
              <a:t>Security Observations:</a:t>
            </a:r>
            <a:endParaRPr lang="en-IN" b="1" dirty="0"/>
          </a:p>
          <a:p>
            <a:pPr lvl="0"/>
            <a:r>
              <a:rPr lang="en-US" dirty="0"/>
              <a:t>Open ports represent network-accessible services and should be limited to what is required.</a:t>
            </a:r>
            <a:endParaRPr lang="en-IN" dirty="0"/>
          </a:p>
          <a:p>
            <a:pPr lvl="0"/>
            <a:r>
              <a:rPr lang="en-US" dirty="0"/>
              <a:t>Service/version information can help security teams identify software that needs patching or review.</a:t>
            </a:r>
            <a:endParaRPr lang="en-IN" dirty="0"/>
          </a:p>
          <a:p>
            <a:pPr lvl="0"/>
            <a:r>
              <a:rPr lang="en-US" dirty="0"/>
              <a:t>Web services should be configured securely and unnecessary services should be disabled.</a:t>
            </a:r>
            <a:endParaRPr lang="en-IN" dirty="0"/>
          </a:p>
          <a:p>
            <a:pPr lvl="0"/>
            <a:r>
              <a:rPr lang="en-US" dirty="0"/>
              <a:t>Packet captures can reveal communication patterns, protocol usage and troubleshooting information.</a:t>
            </a:r>
            <a:endParaRPr lang="en-IN" dirty="0"/>
          </a:p>
          <a:p>
            <a:pPr lvl="0"/>
            <a:r>
              <a:rPr lang="en-US" dirty="0"/>
              <a:t>Security testing must remain within the authorized lab scope.</a:t>
            </a:r>
            <a:endParaRPr lang="en-IN" dirty="0"/>
          </a:p>
          <a:p>
            <a:endParaRPr lang="en-IN" dirty="0"/>
          </a:p>
        </p:txBody>
      </p:sp>
    </p:spTree>
    <p:extLst>
      <p:ext uri="{BB962C8B-B14F-4D97-AF65-F5344CB8AC3E}">
        <p14:creationId xmlns:p14="http://schemas.microsoft.com/office/powerpoint/2010/main" val="3036627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458BB-915E-8C7D-D4D4-078BB649442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Findings and Analysis</a:t>
            </a:r>
            <a:endParaRPr lang="en-IN" b="1" dirty="0">
              <a:latin typeface="Times New Roman" panose="02020603050405020304" pitchFamily="18" charset="0"/>
              <a:cs typeface="Times New Roman" panose="02020603050405020304" pitchFamily="18" charset="0"/>
            </a:endParaRPr>
          </a:p>
        </p:txBody>
      </p:sp>
      <p:graphicFrame>
        <p:nvGraphicFramePr>
          <p:cNvPr id="8" name="Content Placeholder 7">
            <a:extLst>
              <a:ext uri="{FF2B5EF4-FFF2-40B4-BE49-F238E27FC236}">
                <a16:creationId xmlns:a16="http://schemas.microsoft.com/office/drawing/2014/main" id="{C5191B83-8AA9-E6AF-423D-8F5B8BBABFB2}"/>
              </a:ext>
            </a:extLst>
          </p:cNvPr>
          <p:cNvGraphicFramePr>
            <a:graphicFrameLocks noGrp="1"/>
          </p:cNvGraphicFramePr>
          <p:nvPr>
            <p:ph idx="1"/>
            <p:extLst>
              <p:ext uri="{D42A27DB-BD31-4B8C-83A1-F6EECF244321}">
                <p14:modId xmlns:p14="http://schemas.microsoft.com/office/powerpoint/2010/main" val="484752995"/>
              </p:ext>
            </p:extLst>
          </p:nvPr>
        </p:nvGraphicFramePr>
        <p:xfrm>
          <a:off x="1523999" y="1905000"/>
          <a:ext cx="9538159" cy="3646185"/>
        </p:xfrm>
        <a:graphic>
          <a:graphicData uri="http://schemas.openxmlformats.org/drawingml/2006/table">
            <a:tbl>
              <a:tblPr firstRow="1" firstCol="1" bandRow="1">
                <a:tableStyleId>{5C22544A-7EE6-4342-B048-85BDC9FD1C3A}</a:tableStyleId>
              </a:tblPr>
              <a:tblGrid>
                <a:gridCol w="480163">
                  <a:extLst>
                    <a:ext uri="{9D8B030D-6E8A-4147-A177-3AD203B41FA5}">
                      <a16:colId xmlns:a16="http://schemas.microsoft.com/office/drawing/2014/main" val="3391144105"/>
                    </a:ext>
                  </a:extLst>
                </a:gridCol>
                <a:gridCol w="2978639">
                  <a:extLst>
                    <a:ext uri="{9D8B030D-6E8A-4147-A177-3AD203B41FA5}">
                      <a16:colId xmlns:a16="http://schemas.microsoft.com/office/drawing/2014/main" val="4118276964"/>
                    </a:ext>
                  </a:extLst>
                </a:gridCol>
                <a:gridCol w="1757886">
                  <a:extLst>
                    <a:ext uri="{9D8B030D-6E8A-4147-A177-3AD203B41FA5}">
                      <a16:colId xmlns:a16="http://schemas.microsoft.com/office/drawing/2014/main" val="173593510"/>
                    </a:ext>
                  </a:extLst>
                </a:gridCol>
                <a:gridCol w="968465">
                  <a:extLst>
                    <a:ext uri="{9D8B030D-6E8A-4147-A177-3AD203B41FA5}">
                      <a16:colId xmlns:a16="http://schemas.microsoft.com/office/drawing/2014/main" val="4166468197"/>
                    </a:ext>
                  </a:extLst>
                </a:gridCol>
                <a:gridCol w="3353006">
                  <a:extLst>
                    <a:ext uri="{9D8B030D-6E8A-4147-A177-3AD203B41FA5}">
                      <a16:colId xmlns:a16="http://schemas.microsoft.com/office/drawing/2014/main" val="2649574709"/>
                    </a:ext>
                  </a:extLst>
                </a:gridCol>
              </a:tblGrid>
              <a:tr h="324267">
                <a:tc>
                  <a:txBody>
                    <a:bodyPr/>
                    <a:lstStyle/>
                    <a:p>
                      <a:pPr marL="0" marR="0" algn="ctr">
                        <a:lnSpc>
                          <a:spcPct val="115000"/>
                        </a:lnSpc>
                        <a:spcAft>
                          <a:spcPts val="1000"/>
                        </a:spcAft>
                        <a:buNone/>
                      </a:pPr>
                      <a:r>
                        <a:rPr lang="en-IN" sz="1200">
                          <a:effectLst/>
                        </a:rPr>
                        <a:t>ID</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dirty="0">
                          <a:effectLst/>
                        </a:rPr>
                        <a:t>Finding</a:t>
                      </a:r>
                      <a:endParaRPr lang="en-IN" sz="1200" dirty="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a:effectLst/>
                        </a:rPr>
                        <a:t>Evidence</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dirty="0">
                          <a:effectLst/>
                        </a:rPr>
                        <a:t>Risk</a:t>
                      </a:r>
                      <a:endParaRPr lang="en-IN" sz="1200" dirty="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a:effectLst/>
                        </a:rPr>
                        <a:t>Recommendation</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extLst>
                  <a:ext uri="{0D108BD9-81ED-4DB2-BD59-A6C34878D82A}">
                    <a16:rowId xmlns:a16="http://schemas.microsoft.com/office/drawing/2014/main" val="1275814666"/>
                  </a:ext>
                </a:extLst>
              </a:tr>
              <a:tr h="952957">
                <a:tc>
                  <a:txBody>
                    <a:bodyPr/>
                    <a:lstStyle/>
                    <a:p>
                      <a:pPr marL="0" marR="0" algn="ctr">
                        <a:lnSpc>
                          <a:spcPct val="115000"/>
                        </a:lnSpc>
                        <a:spcAft>
                          <a:spcPts val="1000"/>
                        </a:spcAft>
                        <a:buNone/>
                      </a:pPr>
                      <a:r>
                        <a:rPr lang="en-IN" sz="1200">
                          <a:effectLst/>
                        </a:rPr>
                        <a:t>F-01</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dirty="0">
                          <a:effectLst/>
                        </a:rPr>
                        <a:t>Multiple unnecessary/exposed services are accessible, including FTP (21/</a:t>
                      </a:r>
                      <a:r>
                        <a:rPr lang="en-IN" sz="1200" dirty="0" err="1">
                          <a:effectLst/>
                        </a:rPr>
                        <a:t>tcp</a:t>
                      </a:r>
                      <a:r>
                        <a:rPr lang="en-IN" sz="1200" dirty="0">
                          <a:effectLst/>
                        </a:rPr>
                        <a:t>), SMTP (25/</a:t>
                      </a:r>
                      <a:r>
                        <a:rPr lang="en-IN" sz="1200" dirty="0" err="1">
                          <a:effectLst/>
                        </a:rPr>
                        <a:t>tcp</a:t>
                      </a:r>
                      <a:r>
                        <a:rPr lang="en-IN" sz="1200" dirty="0">
                          <a:effectLst/>
                        </a:rPr>
                        <a:t>), </a:t>
                      </a:r>
                      <a:r>
                        <a:rPr lang="en-IN" sz="1200" dirty="0" err="1">
                          <a:effectLst/>
                        </a:rPr>
                        <a:t>RPCBind</a:t>
                      </a:r>
                      <a:r>
                        <a:rPr lang="en-IN" sz="1200" dirty="0">
                          <a:effectLst/>
                        </a:rPr>
                        <a:t> (111/</a:t>
                      </a:r>
                      <a:r>
                        <a:rPr lang="en-IN" sz="1200" dirty="0" err="1">
                          <a:effectLst/>
                        </a:rPr>
                        <a:t>tcp</a:t>
                      </a:r>
                      <a:r>
                        <a:rPr lang="en-IN" sz="1200" dirty="0">
                          <a:effectLst/>
                        </a:rPr>
                        <a:t>), MySQL (3306/</a:t>
                      </a:r>
                      <a:r>
                        <a:rPr lang="en-IN" sz="1200" dirty="0" err="1">
                          <a:effectLst/>
                        </a:rPr>
                        <a:t>tcp</a:t>
                      </a:r>
                      <a:r>
                        <a:rPr lang="en-IN" sz="1200" dirty="0">
                          <a:effectLst/>
                        </a:rPr>
                        <a:t>), and Tomcat (8080/</a:t>
                      </a:r>
                      <a:r>
                        <a:rPr lang="en-IN" sz="1200" dirty="0" err="1">
                          <a:effectLst/>
                        </a:rPr>
                        <a:t>tcp</a:t>
                      </a:r>
                      <a:r>
                        <a:rPr lang="en-IN" sz="1200" dirty="0">
                          <a:effectLst/>
                        </a:rPr>
                        <a:t>).</a:t>
                      </a:r>
                      <a:endParaRPr lang="en-IN" sz="1200" dirty="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a:effectLst/>
                        </a:rPr>
                        <a:t>Nmap scan screenshot showing open ports</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a:effectLst/>
                        </a:rPr>
                        <a:t>High</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a:effectLst/>
                        </a:rPr>
                        <a:t>Close unnecessary services and restrict required services using firewall rules and network access controls.</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extLst>
                  <a:ext uri="{0D108BD9-81ED-4DB2-BD59-A6C34878D82A}">
                    <a16:rowId xmlns:a16="http://schemas.microsoft.com/office/drawing/2014/main" val="2238761234"/>
                  </a:ext>
                </a:extLst>
              </a:tr>
              <a:tr h="1141098">
                <a:tc>
                  <a:txBody>
                    <a:bodyPr/>
                    <a:lstStyle/>
                    <a:p>
                      <a:pPr marL="0" marR="0" algn="ctr">
                        <a:lnSpc>
                          <a:spcPct val="115000"/>
                        </a:lnSpc>
                        <a:spcAft>
                          <a:spcPts val="1000"/>
                        </a:spcAft>
                        <a:buNone/>
                      </a:pPr>
                      <a:r>
                        <a:rPr lang="en-IN" sz="1200">
                          <a:effectLst/>
                        </a:rPr>
                        <a:t>F-02</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dirty="0">
                          <a:effectLst/>
                        </a:rPr>
                        <a:t>Several service versions were identified, including </a:t>
                      </a:r>
                      <a:r>
                        <a:rPr lang="en-IN" sz="1200" dirty="0" err="1">
                          <a:effectLst/>
                        </a:rPr>
                        <a:t>vsftpd</a:t>
                      </a:r>
                      <a:r>
                        <a:rPr lang="en-IN" sz="1200" dirty="0">
                          <a:effectLst/>
                        </a:rPr>
                        <a:t> 3.0.3, OpenSSH 6.6.1p1, Apache 2.4.7, MySQL 5.5.60, and BIND 9.9.5. Some versions appear outdated.</a:t>
                      </a:r>
                      <a:endParaRPr lang="en-IN" sz="1200" dirty="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a:effectLst/>
                        </a:rPr>
                        <a:t>Nmap -sV scan screenshot</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a:effectLst/>
                        </a:rPr>
                        <a:t>Medium</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a:effectLst/>
                        </a:rPr>
                        <a:t>Patch and update outdated software to supported versions and minimize exposed version information where appropriate.</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extLst>
                  <a:ext uri="{0D108BD9-81ED-4DB2-BD59-A6C34878D82A}">
                    <a16:rowId xmlns:a16="http://schemas.microsoft.com/office/drawing/2014/main" val="3837791775"/>
                  </a:ext>
                </a:extLst>
              </a:tr>
              <a:tr h="1141515">
                <a:tc>
                  <a:txBody>
                    <a:bodyPr/>
                    <a:lstStyle/>
                    <a:p>
                      <a:pPr marL="0" marR="0" algn="ctr">
                        <a:lnSpc>
                          <a:spcPct val="115000"/>
                        </a:lnSpc>
                        <a:spcAft>
                          <a:spcPts val="1000"/>
                        </a:spcAft>
                        <a:buNone/>
                      </a:pPr>
                      <a:r>
                        <a:rPr lang="en-IN" sz="1200">
                          <a:effectLst/>
                        </a:rPr>
                        <a:t>F-03</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dirty="0">
                          <a:effectLst/>
                        </a:rPr>
                        <a:t>Network traffic should be reviewed to identify whether sensitive communication is being transmitted using insecure or improperly configured protocols.</a:t>
                      </a:r>
                      <a:endParaRPr lang="en-IN" sz="1200" dirty="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a:effectLst/>
                        </a:rPr>
                        <a:t>Wireshark screenshot showing captured HTTP/DNS/ICMP traffic</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a:effectLst/>
                        </a:rPr>
                        <a:t>Medium</a:t>
                      </a:r>
                      <a:endParaRPr lang="en-IN" sz="120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tc>
                  <a:txBody>
                    <a:bodyPr/>
                    <a:lstStyle/>
                    <a:p>
                      <a:pPr marL="0" marR="0" algn="ctr">
                        <a:lnSpc>
                          <a:spcPct val="115000"/>
                        </a:lnSpc>
                        <a:spcAft>
                          <a:spcPts val="1000"/>
                        </a:spcAft>
                        <a:buNone/>
                      </a:pPr>
                      <a:r>
                        <a:rPr lang="en-IN" sz="1200" dirty="0">
                          <a:effectLst/>
                        </a:rPr>
                        <a:t>Use secure protocols and appropriate encryption/configuration where applicable. Restrict or disable insecure services when they are not required.</a:t>
                      </a:r>
                      <a:endParaRPr lang="en-IN" sz="1200" dirty="0">
                        <a:effectLst/>
                        <a:latin typeface="Aptos" panose="020B0004020202020204" pitchFamily="34" charset="0"/>
                        <a:ea typeface="MS Mincho" panose="02020609040205080304" pitchFamily="49" charset="-128"/>
                        <a:cs typeface="Times New Roman" panose="02020603050405020304" pitchFamily="18" charset="0"/>
                      </a:endParaRPr>
                    </a:p>
                  </a:txBody>
                  <a:tcPr marL="10801" marR="10801" marT="0" marB="0"/>
                </a:tc>
                <a:extLst>
                  <a:ext uri="{0D108BD9-81ED-4DB2-BD59-A6C34878D82A}">
                    <a16:rowId xmlns:a16="http://schemas.microsoft.com/office/drawing/2014/main" val="1368806356"/>
                  </a:ext>
                </a:extLst>
              </a:tr>
            </a:tbl>
          </a:graphicData>
        </a:graphic>
      </p:graphicFrame>
    </p:spTree>
    <p:extLst>
      <p:ext uri="{BB962C8B-B14F-4D97-AF65-F5344CB8AC3E}">
        <p14:creationId xmlns:p14="http://schemas.microsoft.com/office/powerpoint/2010/main" val="1840204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2FCE6-8C3F-A102-289D-F281ABC96D69}"/>
              </a:ext>
            </a:extLst>
          </p:cNvPr>
          <p:cNvSpPr>
            <a:spLocks noGrp="1"/>
          </p:cNvSpPr>
          <p:nvPr>
            <p:ph type="title"/>
          </p:nvPr>
        </p:nvSpPr>
        <p:spPr>
          <a:xfrm>
            <a:off x="1806345" y="663440"/>
            <a:ext cx="8911687" cy="1280890"/>
          </a:xfrm>
        </p:spPr>
        <p:txBody>
          <a:bodyPr/>
          <a:lstStyle/>
          <a:p>
            <a:r>
              <a:rPr lang="en-US" b="1" dirty="0">
                <a:latin typeface="Times New Roman" panose="02020603050405020304" pitchFamily="18" charset="0"/>
                <a:cs typeface="Times New Roman" panose="02020603050405020304" pitchFamily="18" charset="0"/>
              </a:rPr>
              <a:t>Learning Outcomes: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520EF2C-3331-BB81-BEA6-D21D81E4AE44}"/>
              </a:ext>
            </a:extLst>
          </p:cNvPr>
          <p:cNvSpPr>
            <a:spLocks noGrp="1"/>
          </p:cNvSpPr>
          <p:nvPr>
            <p:ph idx="1"/>
          </p:nvPr>
        </p:nvSpPr>
        <p:spPr>
          <a:xfrm>
            <a:off x="2009109" y="1769806"/>
            <a:ext cx="8915400" cy="3777622"/>
          </a:xfrm>
        </p:spPr>
        <p:txBody>
          <a:bodyPr/>
          <a:lstStyle/>
          <a:p>
            <a:pPr lvl="0"/>
            <a:r>
              <a:rPr lang="en-US" dirty="0">
                <a:latin typeface="Times New Roman" panose="02020603050405020304" pitchFamily="18" charset="0"/>
                <a:cs typeface="Times New Roman" panose="02020603050405020304" pitchFamily="18" charset="0"/>
              </a:rPr>
              <a:t>Understood how to create a small controlled virtual security lab.</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Learned the purpose of attacker and target machines in a security-testing environment.</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Learned how to deploy and verify a basic web service.</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Learned how Nmap identifies exposed ports and services.</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Learned how Wireshark captures and filters network packets.</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Understood basic HTTP, DNS and ICMP traffic patterns.</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Improved practical skills in collecting evidence and documenting security observations.</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Understood the importance of authorization and safe testing.</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6622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E3E2F3-C062-FA51-8231-01734016B6AE}"/>
              </a:ext>
            </a:extLst>
          </p:cNvPr>
          <p:cNvSpPr>
            <a:spLocks noGrp="1"/>
          </p:cNvSpPr>
          <p:nvPr>
            <p:ph idx="1"/>
          </p:nvPr>
        </p:nvSpPr>
        <p:spPr>
          <a:xfrm>
            <a:off x="3276600" y="2762865"/>
            <a:ext cx="8915400" cy="3777622"/>
          </a:xfrm>
        </p:spPr>
        <p:txBody>
          <a:bodyPr>
            <a:normAutofit/>
          </a:bodyPr>
          <a:lstStyle/>
          <a:p>
            <a:pPr marL="0" indent="0">
              <a:buNone/>
            </a:pPr>
            <a:r>
              <a:rPr lang="en-US" sz="5400" dirty="0">
                <a:solidFill>
                  <a:schemeClr val="tx1"/>
                </a:solidFill>
                <a:latin typeface="Algerian" panose="04020705040A02060702" pitchFamily="82" charset="0"/>
                <a:cs typeface="Aldhabi" panose="01000000000000000000" pitchFamily="2" charset="-78"/>
              </a:rPr>
              <a:t>Thank you </a:t>
            </a:r>
            <a:endParaRPr lang="en-IN" sz="5400" dirty="0">
              <a:solidFill>
                <a:schemeClr val="tx1"/>
              </a:solidFill>
              <a:latin typeface="Algerian" panose="04020705040A02060702" pitchFamily="82" charset="0"/>
              <a:cs typeface="Aldhabi" panose="01000000000000000000" pitchFamily="2" charset="-78"/>
            </a:endParaRPr>
          </a:p>
        </p:txBody>
      </p:sp>
      <p:pic>
        <p:nvPicPr>
          <p:cNvPr id="5" name="Picture 4">
            <a:extLst>
              <a:ext uri="{FF2B5EF4-FFF2-40B4-BE49-F238E27FC236}">
                <a16:creationId xmlns:a16="http://schemas.microsoft.com/office/drawing/2014/main" id="{E4665CE3-6176-1599-BA81-FC36F9B5E13A}"/>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1071"/>
            <a:ext cx="12192000" cy="6855858"/>
          </a:xfrm>
          <a:prstGeom prst="rect">
            <a:avLst/>
          </a:prstGeom>
        </p:spPr>
      </p:pic>
    </p:spTree>
    <p:extLst>
      <p:ext uri="{BB962C8B-B14F-4D97-AF65-F5344CB8AC3E}">
        <p14:creationId xmlns:p14="http://schemas.microsoft.com/office/powerpoint/2010/main" val="2408759940"/>
      </p:ext>
    </p:extLst>
  </p:cSld>
  <p:clrMapOvr>
    <a:masterClrMapping/>
  </p:clrMapOvr>
</p:sld>
</file>

<file path=ppt/theme/theme1.xml><?xml version="1.0" encoding="utf-8"?>
<a:theme xmlns:a="http://schemas.openxmlformats.org/drawingml/2006/main" name="Wisp">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
  <TotalTime>116</TotalTime>
  <Words>1399</Words>
  <Application>Microsoft Office PowerPoint</Application>
  <PresentationFormat>Widescreen</PresentationFormat>
  <Paragraphs>169</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Algerian</vt:lpstr>
      <vt:lpstr>Aptos</vt:lpstr>
      <vt:lpstr>Arial</vt:lpstr>
      <vt:lpstr>Century Gothic</vt:lpstr>
      <vt:lpstr>Times New Roman</vt:lpstr>
      <vt:lpstr>Wingdings</vt:lpstr>
      <vt:lpstr>Wingdings 3</vt:lpstr>
      <vt:lpstr>Wisp</vt:lpstr>
      <vt:lpstr>    Week 1 Internship Report Computer Networking Fundamentals     </vt:lpstr>
      <vt:lpstr>Introduction</vt:lpstr>
      <vt:lpstr>Lab Environment and Network Topology</vt:lpstr>
      <vt:lpstr>Virtual Machines</vt:lpstr>
      <vt:lpstr>Network Configuration</vt:lpstr>
      <vt:lpstr>Setup Basic Network</vt:lpstr>
      <vt:lpstr>Kali IP / Connectivity</vt:lpstr>
      <vt:lpstr>Install and Configure Web Server</vt:lpstr>
      <vt:lpstr> Web Page </vt:lpstr>
      <vt:lpstr>Network Scanning Using Nmap</vt:lpstr>
      <vt:lpstr>Nmap Result Analysis:</vt:lpstr>
      <vt:lpstr>Traffic Analysis Using Wireshark:</vt:lpstr>
      <vt:lpstr>ICMP Analysis</vt:lpstr>
      <vt:lpstr>DNS Packets &amp; HTTP Packets </vt:lpstr>
      <vt:lpstr>PowerPoint Presentation</vt:lpstr>
      <vt:lpstr>PowerPoint Presentation</vt:lpstr>
      <vt:lpstr>Findings and Analysis</vt:lpstr>
      <vt:lpstr>Learning Outcomes: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krina sorathiya</dc:creator>
  <cp:lastModifiedBy>krina sorathiya</cp:lastModifiedBy>
  <cp:revision>2</cp:revision>
  <dcterms:created xsi:type="dcterms:W3CDTF">2026-08-07T17:59:55Z</dcterms:created>
  <dcterms:modified xsi:type="dcterms:W3CDTF">2026-09-12T14:55:52Z</dcterms:modified>
</cp:coreProperties>
</file>